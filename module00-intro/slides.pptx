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UART shows up everywhere in bring-up and debug—a serial line on a board, a console on a chip, a quick link between blocks. This short clip welcomes you to learn UART and shows how the course is meant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the course you follow one protocol arc: read the spec, sketch RTL, build a self-checking testbench, read waves, then map the same ideas to a VIP-style view. You’ll walk frame timing, baud and oversampling, error cases, FIFO and handshake in the datapath, and finally TB versus UVM layering. Deep verification planning is a different course—here you build UART literacy first.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Track A is real RTL and testbench work—small Verilog sketches with optional Icarus, Verilator, or the browser HDL simulator. Track B uses interactive labs on the learning platform for frame timing, baud math, and wave intuition. You may do either track, or both. A good rhythm is browser first for the idea, then a short RTL sketch to harden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an editor for Verilog or SystemVerilog files. Optional: install Icarus or Verilator, or use the public HDL simulator for quick runs. Stretch examples live in the older combined UART-SPI-I²C materials—they are optional, not required. From this course folder, open module READMEs and EXAMPLES prompts as you go; self-check scripts can grade checklist items when you want them.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All twelve course labs are shipped—UART frame through VIP anatomy—alongside shared labs like FIFO, handshake, and waveform viewer. If you prefer, use the published tools site instead. Either way, confirm you can reach the index—the next module sends you into the UART frame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When you finish this intro checklist, continue to UART frame, where idle, start, data, and stop bits become a timeline you can read and sketch.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UART</a:t>
            </a:r>
          </a:p>
          <a:p>
            <a:pPr algn="ctr">
              <a:lnSpc>
                <a:spcPts val="2200"/>
              </a:lnSpc>
              <a:spcBef>
                <a:spcPts val="1400"/>
              </a:spcBef>
            </a:pPr>
            <a:r>
              <a:rPr sz="2600" b="0">
                <a:solidFill>
                  <a:srgbClr val="333333"/>
                </a:solidFill>
                <a:latin typeface="Calibri"/>
              </a:rPr>
              <a:t>UART shows up everywhere in bring-up and debug</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you’ll build toward</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Across the course you follow one protocol arc</a:t>
            </a:r>
          </a:p>
          <a:p>
            <a:pPr lvl="0" marL="457200" indent="-228600">
              <a:buFont typeface="Calibri"/>
              <a:spcAft>
                <a:spcPts val="1000"/>
              </a:spcAft>
              <a:buSzPct val="100000"/>
              <a:buChar char="•"/>
              <a:lnSpc>
                <a:spcPts val="2200"/>
              </a:lnSpc>
            </a:pPr>
            <a:r>
              <a:rPr sz="2000" b="0">
                <a:solidFill>
                  <a:srgbClr val="333333"/>
                </a:solidFill>
                <a:latin typeface="Calibri"/>
              </a:rPr>
              <a:t>Finally TB versus UVM layering</a:t>
            </a:r>
          </a:p>
          <a:p>
            <a:pPr lvl="0" marL="457200" indent="-228600">
              <a:buFont typeface="Calibri"/>
              <a:spcAft>
                <a:spcPts val="1000"/>
              </a:spcAft>
              <a:buSzPct val="100000"/>
              <a:buChar char="•"/>
              <a:lnSpc>
                <a:spcPts val="2200"/>
              </a:lnSpc>
            </a:pPr>
            <a:r>
              <a:rPr sz="2000" b="0">
                <a:solidFill>
                  <a:srgbClr val="333333"/>
                </a:solidFill>
                <a:latin typeface="Calibri"/>
              </a:rPr>
              <a:t>Deep verification planning is a different course, here you build UART literacy first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Track A is real RTL and testbench work</a:t>
            </a:r>
          </a:p>
          <a:p>
            <a:pPr lvl="0" marL="457200" indent="-228600">
              <a:buFont typeface="Calibri"/>
              <a:spcAft>
                <a:spcPts val="1000"/>
              </a:spcAft>
              <a:buSzPct val="100000"/>
              <a:buChar char="•"/>
              <a:lnSpc>
                <a:spcPts val="2200"/>
              </a:lnSpc>
            </a:pPr>
            <a:r>
              <a:rPr sz="2000" b="0">
                <a:solidFill>
                  <a:srgbClr val="333333"/>
                </a:solidFill>
                <a:latin typeface="Calibri"/>
              </a:rPr>
              <a:t>Track B uses interactive labs on the learning platform for frame timing, baud math</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A good rhythm is browser first for the idea, then a short RTL sketch to harden 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an editor for Verilog or SystemVerilog files</a:t>
            </a:r>
          </a:p>
          <a:p>
            <a:pPr lvl="0" marL="457200" indent="-228600">
              <a:buFont typeface="Calibri"/>
              <a:spcAft>
                <a:spcPts val="1000"/>
              </a:spcAft>
              <a:buSzPct val="100000"/>
              <a:buChar char="•"/>
              <a:lnSpc>
                <a:spcPts val="2200"/>
              </a:lnSpc>
            </a:pPr>
            <a:r>
              <a:rPr sz="2000" b="0">
                <a:solidFill>
                  <a:srgbClr val="333333"/>
                </a:solidFill>
                <a:latin typeface="Calibri"/>
              </a:rPr>
              <a:t>Optional: install Icarus or Verilator, or use the public HDL simulator for quick runs</a:t>
            </a:r>
          </a:p>
          <a:p>
            <a:pPr lvl="0" marL="457200" indent="-228600">
              <a:buFont typeface="Calibri"/>
              <a:spcAft>
                <a:spcPts val="1000"/>
              </a:spcAft>
              <a:buSzPct val="100000"/>
              <a:buChar char="•"/>
              <a:lnSpc>
                <a:spcPts val="2200"/>
              </a:lnSpc>
            </a:pPr>
            <a:r>
              <a:rPr sz="2000" b="0">
                <a:solidFill>
                  <a:srgbClr val="333333"/>
                </a:solidFill>
                <a:latin typeface="Calibri"/>
              </a:rPr>
              <a:t>Stretch examples live in the older combined UART-SPI-I²C materials</a:t>
            </a:r>
          </a:p>
          <a:p>
            <a:pPr lvl="0" marL="457200" indent="-228600">
              <a:buFont typeface="Calibri"/>
              <a:spcAft>
                <a:spcPts val="1000"/>
              </a:spcAft>
              <a:buSzPct val="100000"/>
              <a:buChar char="•"/>
              <a:lnSpc>
                <a:spcPts val="2200"/>
              </a:lnSpc>
            </a:pPr>
            <a:r>
              <a:rPr sz="2000" b="0">
                <a:solidFill>
                  <a:srgbClr val="333333"/>
                </a:solidFill>
                <a:latin typeface="Calibri"/>
              </a:rPr>
              <a:t>From this course folder, open module READMEs and EXAMPLES prompts as you go</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Track B</a:t>
            </a:r>
          </a:p>
        </p:txBody>
      </p:sp>
      <p:sp>
        <p:nvSpPr>
          <p:cNvPr id="3" name="TextBox 2"/>
          <p:cNvSpPr txBox="1"/>
          <p:nvPr/>
        </p:nvSpPr>
        <p:spPr>
          <a:xfrm>
            <a:off x="548640" y="1234440"/>
            <a:ext cx="5303520" cy="475488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From the monorepo</a:t>
            </a:r>
          </a:p>
          <a:p>
            <a:pPr lvl="0" marL="457200" indent="-228600">
              <a:buFont typeface="Calibri"/>
              <a:spcAft>
                <a:spcPts val="1000"/>
              </a:spcAft>
              <a:buSzPct val="100000"/>
              <a:buChar char="•"/>
              <a:lnSpc>
                <a:spcPts val="2200"/>
              </a:lnSpc>
            </a:pPr>
            <a:r>
              <a:rPr sz="2000" b="0">
                <a:solidFill>
                  <a:srgbClr val="333333"/>
                </a:solidFill>
                <a:latin typeface="Calibri"/>
              </a:rPr>
              <a:t>Waveform viewer</a:t>
            </a:r>
          </a:p>
          <a:p>
            <a:pPr lvl="0" marL="457200" indent="-228600">
              <a:buFont typeface="Calibri"/>
              <a:spcAft>
                <a:spcPts val="1000"/>
              </a:spcAft>
              <a:buSzPct val="100000"/>
              <a:buChar char="•"/>
              <a:lnSpc>
                <a:spcPts val="2200"/>
              </a:lnSpc>
            </a:pPr>
            <a:r>
              <a:rPr sz="2000" b="0">
                <a:solidFill>
                  <a:srgbClr val="333333"/>
                </a:solidFill>
                <a:latin typeface="Calibri"/>
              </a:rPr>
              <a:t>If you prefer, use the published tools site instead</a:t>
            </a:r>
          </a:p>
          <a:p>
            <a:pPr lvl="0" marL="457200" indent="-228600">
              <a:buFont typeface="Calibri"/>
              <a:spcAft>
                <a:spcPts val="1000"/>
              </a:spcAft>
              <a:buSzPct val="100000"/>
              <a:buChar char="•"/>
              <a:lnSpc>
                <a:spcPts val="2200"/>
              </a:lnSpc>
            </a:pPr>
            <a:r>
              <a:rPr sz="2000" b="0">
                <a:solidFill>
                  <a:srgbClr val="333333"/>
                </a:solidFill>
                <a:latin typeface="Calibri"/>
              </a:rPr>
              <a:t>Confirm you can reach the index, the next module sends you into the UART frame lab</a:t>
            </a:r>
          </a:p>
        </p:txBody>
      </p:sp>
      <p:pic>
        <p:nvPicPr>
          <p:cNvPr id="4" name="Picture 3" descr="tools-index.png"/>
          <p:cNvPicPr>
            <a:picLocks noChangeAspect="1"/>
          </p:cNvPicPr>
          <p:nvPr/>
        </p:nvPicPr>
        <p:blipFill>
          <a:blip r:embed="rId2"/>
          <a:stretch>
            <a:fillRect/>
          </a:stretch>
        </p:blipFill>
        <p:spPr>
          <a:xfrm>
            <a:off x="6172200" y="1925955"/>
            <a:ext cx="5394960" cy="3371850"/>
          </a:xfrm>
          <a:prstGeom prst="rect">
            <a:avLst/>
          </a:prstGeom>
        </p:spPr>
      </p:pic>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UART frame, where idle, start, data</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learn_uart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