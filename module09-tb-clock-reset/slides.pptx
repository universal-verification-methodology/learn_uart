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RTL testbench needs a clock and a reset before stimulus runs. The TB clock is a free-running forever toggle—it is not a DUT output. Active-low reset means assert by driving rst_n to zero for a chosen number of posedge cycles, then deassert back to one. Sync-style release aligns deassert with the clock so flops sample cleanly. Async release changes rst_n between edges—legal in real designs, but you should know the hazard. This lab reads half-cycle waves and a TB sketch side by side.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Starter preset: classic assert times two, sync release. Free-running clk toggles every half-cycle. rst_n stays low through two posedges—at half-cycles one and three—then rises at half-cycle four while clk is high after the second edge. Cursor starts at h4, the release point. Click Analyze and the flags show assert_posedges equals two, released equals one, release equals sync. The TB sketch shows repeat two at posedge clk, then rst_n equals one. That is the bring-up pattern you will reuse before UART byte checks.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example and read the four idea cards—forever clk, assert, sync release, async release. The timeline marks posedges with an arrow on clk rows. Try async mid release—rst_n rises at h2 between edges. Hold forever keeps rst_n at zero with the clock still toggling. Idle preset has rst_n all ones with no assert phase. Long times four shows repeat four in the sketch. Demo async and Explain summarize sync versus mid-cycle release.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Track A, write a minimal initial block: clk toggle forever, rst_n assert for two posedges, then deassert. State why sync deassert is preferred for flops clocked on posedge clk. Optional: peek at a UART TB in the legacy combined materials and name where reset ends before the first byte drive. This lab is literacy—not a full simulator or metastability proof.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confuse TB clock generation with the UART baud divider—they serve different roles. Assert means rst_n equals zero, not one. Counting reset cycles means posedges while rst_n is low, not arbitrary half-cycles. Releasing reset mid-cycle can work but is not the same as sync release at the edge. Hold forever means the DUT never leaves reset—useful to see the wave, not a passing test. And remember: real chips may need async assert with sync deassert; this lab shows the teaching patterns only.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starter classic, Analyze for two assert posedges and sync release, then try async mid once. On paper, sketch clk and rst_n for two cycles in reset and one cycle out. When you are ready, take the short quiz, then continue to waves.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TB clock and reset</a:t>
            </a:r>
          </a:p>
          <a:p>
            <a:pPr algn="ctr">
              <a:lnSpc>
                <a:spcPts val="2200"/>
              </a:lnSpc>
              <a:spcBef>
                <a:spcPts val="1400"/>
              </a:spcBef>
            </a:pPr>
            <a:r>
              <a:rPr sz="2600" b="0">
                <a:solidFill>
                  <a:srgbClr val="333333"/>
                </a:solidFill>
                <a:latin typeface="Calibri"/>
              </a:rPr>
              <a:t>Every RTL testbench needs a clock and a reset before stimulus runs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tb clock reset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Starter classic assert times two</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Starter preset: classic assert times two, sync release</a:t>
            </a:r>
          </a:p>
          <a:p>
            <a:pPr lvl="0" marL="457200" indent="-228600">
              <a:buFont typeface="Calibri"/>
              <a:spcAft>
                <a:spcPts val="1000"/>
              </a:spcAft>
              <a:buSzPct val="100000"/>
              <a:buChar char="•"/>
              <a:lnSpc>
                <a:spcPts val="2200"/>
              </a:lnSpc>
            </a:pPr>
            <a:r>
              <a:rPr sz="2000" b="0">
                <a:solidFill>
                  <a:srgbClr val="333333"/>
                </a:solidFill>
                <a:latin typeface="Calibri"/>
              </a:rPr>
              <a:t>Free-running clk toggles every half-cycle</a:t>
            </a:r>
          </a:p>
          <a:p>
            <a:pPr lvl="0" marL="457200" indent="-228600">
              <a:buFont typeface="Calibri"/>
              <a:spcAft>
                <a:spcPts val="1000"/>
              </a:spcAft>
              <a:buSzPct val="100000"/>
              <a:buChar char="•"/>
              <a:lnSpc>
                <a:spcPts val="2200"/>
              </a:lnSpc>
            </a:pPr>
            <a:r>
              <a:rPr sz="2000" b="0">
                <a:solidFill>
                  <a:srgbClr val="333333"/>
                </a:solidFill>
                <a:latin typeface="Calibri"/>
              </a:rPr>
              <a:t>Rst_n stays low through two posedges</a:t>
            </a:r>
          </a:p>
          <a:p>
            <a:pPr lvl="0" marL="457200" indent="-228600">
              <a:buFont typeface="Calibri"/>
              <a:spcAft>
                <a:spcPts val="1000"/>
              </a:spcAft>
              <a:buSzPct val="100000"/>
              <a:buChar char="•"/>
              <a:lnSpc>
                <a:spcPts val="2200"/>
              </a:lnSpc>
            </a:pPr>
            <a:r>
              <a:rPr sz="2000" b="0">
                <a:solidFill>
                  <a:srgbClr val="333333"/>
                </a:solidFill>
                <a:latin typeface="Calibri"/>
              </a:rPr>
              <a:t>Cursor starts at h4, the release point</a:t>
            </a:r>
          </a:p>
          <a:p>
            <a:pPr lvl="0" marL="457200" indent="-228600">
              <a:buFont typeface="Calibri"/>
              <a:spcAft>
                <a:spcPts val="1000"/>
              </a:spcAft>
              <a:buSzPct val="100000"/>
              <a:buChar char="•"/>
              <a:lnSpc>
                <a:spcPts val="2200"/>
              </a:lnSpc>
            </a:pPr>
            <a:r>
              <a:rPr sz="2000" b="0">
                <a:solidFill>
                  <a:srgbClr val="333333"/>
                </a:solidFill>
                <a:latin typeface="Calibri"/>
              </a:rPr>
              <a:t>Click Analyze and the flags show assert_posedges equals two</a:t>
            </a:r>
          </a:p>
          <a:p>
            <a:pPr lvl="0" marL="457200" indent="-228600">
              <a:buFont typeface="Calibri"/>
              <a:spcAft>
                <a:spcPts val="1000"/>
              </a:spcAft>
              <a:buSzPct val="100000"/>
              <a:buChar char="•"/>
              <a:lnSpc>
                <a:spcPts val="2200"/>
              </a:lnSpc>
            </a:pPr>
            <a:r>
              <a:rPr sz="2000" b="0">
                <a:solidFill>
                  <a:srgbClr val="333333"/>
                </a:solidFill>
                <a:latin typeface="Calibri"/>
              </a:rPr>
              <a:t>The TB sketch shows repeat two at posedge clk, then rst_n equals one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tb clock reset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TB clock reset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tb clock reset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RTL/TB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Track A, write a minimal initial block</a:t>
            </a:r>
          </a:p>
          <a:p>
            <a:pPr lvl="0" marL="457200" indent="-228600">
              <a:buFont typeface="Calibri"/>
              <a:spcAft>
                <a:spcPts val="1000"/>
              </a:spcAft>
              <a:buSzPct val="100000"/>
              <a:buChar char="•"/>
              <a:lnSpc>
                <a:spcPts val="2200"/>
              </a:lnSpc>
            </a:pPr>
            <a:r>
              <a:rPr sz="2000" b="0">
                <a:solidFill>
                  <a:srgbClr val="333333"/>
                </a:solidFill>
                <a:latin typeface="Calibri"/>
              </a:rPr>
              <a:t>State why sync deassert is preferred for flops clocked on posedge clk</a:t>
            </a:r>
          </a:p>
          <a:p>
            <a:pPr lvl="0" marL="457200" indent="-228600">
              <a:buFont typeface="Calibri"/>
              <a:spcAft>
                <a:spcPts val="1000"/>
              </a:spcAft>
              <a:buSzPct val="100000"/>
              <a:buChar char="•"/>
              <a:lnSpc>
                <a:spcPts val="2200"/>
              </a:lnSpc>
            </a:pPr>
            <a:r>
              <a:rPr sz="2000" b="0">
                <a:solidFill>
                  <a:srgbClr val="333333"/>
                </a:solidFill>
                <a:latin typeface="Calibri"/>
              </a:rPr>
              <a:t>Optional: peek at a UART TB in the legacy combined materials and name where reset ends</a:t>
            </a:r>
          </a:p>
          <a:p>
            <a:pPr lvl="0" marL="457200" indent="-228600">
              <a:buFont typeface="Calibri"/>
              <a:spcAft>
                <a:spcPts val="1000"/>
              </a:spcAft>
              <a:buSzPct val="100000"/>
              <a:buChar char="•"/>
              <a:lnSpc>
                <a:spcPts val="2200"/>
              </a:lnSpc>
            </a:pPr>
            <a:r>
              <a:rPr sz="2000" b="0">
                <a:solidFill>
                  <a:srgbClr val="333333"/>
                </a:solidFill>
                <a:latin typeface="Calibri"/>
              </a:rPr>
              <a:t>This lab is literacy, not a full simulator or metastability proof</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tb clock reset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confuse TB clock generation with the UART baud divider, they serve different roles</a:t>
            </a:r>
          </a:p>
          <a:p>
            <a:pPr lvl="0" marL="457200" indent="-228600">
              <a:buFont typeface="Calibri"/>
              <a:spcAft>
                <a:spcPts val="1000"/>
              </a:spcAft>
              <a:buSzPct val="100000"/>
              <a:buChar char="•"/>
              <a:lnSpc>
                <a:spcPts val="2200"/>
              </a:lnSpc>
            </a:pPr>
            <a:r>
              <a:rPr sz="2000" b="0">
                <a:solidFill>
                  <a:srgbClr val="333333"/>
                </a:solidFill>
                <a:latin typeface="Calibri"/>
              </a:rPr>
              <a:t>Assert means rst_n equals zero, not one</a:t>
            </a:r>
          </a:p>
          <a:p>
            <a:pPr lvl="0" marL="457200" indent="-228600">
              <a:buFont typeface="Calibri"/>
              <a:spcAft>
                <a:spcPts val="1000"/>
              </a:spcAft>
              <a:buSzPct val="100000"/>
              <a:buChar char="•"/>
              <a:lnSpc>
                <a:spcPts val="2200"/>
              </a:lnSpc>
            </a:pPr>
            <a:r>
              <a:rPr sz="2000" b="0">
                <a:solidFill>
                  <a:srgbClr val="333333"/>
                </a:solidFill>
                <a:latin typeface="Calibri"/>
              </a:rPr>
              <a:t>Counting reset cycles means posedges while rst_n is low, not arbitrary half-cycles</a:t>
            </a:r>
          </a:p>
          <a:p>
            <a:pPr lvl="0" marL="457200" indent="-228600">
              <a:buFont typeface="Calibri"/>
              <a:spcAft>
                <a:spcPts val="1000"/>
              </a:spcAft>
              <a:buSzPct val="100000"/>
              <a:buChar char="•"/>
              <a:lnSpc>
                <a:spcPts val="2200"/>
              </a:lnSpc>
            </a:pPr>
            <a:r>
              <a:rPr sz="2000" b="0">
                <a:solidFill>
                  <a:srgbClr val="333333"/>
                </a:solidFill>
                <a:latin typeface="Calibri"/>
              </a:rPr>
              <a:t>Releasing reset mid-cycle can work but is not the same as sync release at the edge</a:t>
            </a:r>
          </a:p>
          <a:p>
            <a:pPr lvl="0" marL="457200" indent="-228600">
              <a:buFont typeface="Calibri"/>
              <a:spcAft>
                <a:spcPts val="1000"/>
              </a:spcAft>
              <a:buSzPct val="100000"/>
              <a:buChar char="•"/>
              <a:lnSpc>
                <a:spcPts val="2200"/>
              </a:lnSpc>
            </a:pPr>
            <a:r>
              <a:rPr sz="2000" b="0">
                <a:solidFill>
                  <a:srgbClr val="333333"/>
                </a:solidFill>
                <a:latin typeface="Calibri"/>
              </a:rPr>
              <a:t>Hold forever means the DUT never leaves reset, useful to see the wave, not a passing test</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tb clock reset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a:t>
            </a:r>
          </a:p>
          <a:p>
            <a:pPr lvl="0" marL="457200" indent="-228600">
              <a:buFont typeface="Calibri"/>
              <a:spcAft>
                <a:spcPts val="1000"/>
              </a:spcAft>
              <a:buSzPct val="100000"/>
              <a:buChar char="•"/>
              <a:lnSpc>
                <a:spcPts val="2200"/>
              </a:lnSpc>
            </a:pPr>
            <a:r>
              <a:rPr sz="2000" b="0">
                <a:solidFill>
                  <a:srgbClr val="333333"/>
                </a:solidFill>
                <a:latin typeface="Calibri"/>
              </a:rPr>
              <a:t>On paper, sketch clk and rst_n for two cycles in reset and one cycle out</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waves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tb clock reset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