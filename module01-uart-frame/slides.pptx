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Asynchronous serial UART sends one byte as a timed bit sequence—no shared clock wire on the link. The line idles high at logic one. A start bit drops to zero for one bit time. Data follows LSB first, often five through nine bits. Optional parity may sit before stop. One or two stop bits return the line to one. Baud rate sets how long each bit lasts on the wire.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byte hex A5 as eight-N-one—eight data bits, no parity, one stop bit. Idle high, start zero, then D0 through D7 LSB first, then stop one, then idle again. For A5 the LSB is one—binary one-zero-one-zero-zero-one-zero-one—so D0 and D7 are both one. Step bit by bit or play to end to watch the cursor move through twelve slots. Rebuild after changing width, parity, or stop count.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and watch the wave table and SVG trace. The verdict panel names the current slot—start, data, stop, or idle. Try Demo for a full A5 eight-N-one walkthrough, or switch to even parity and rebuild to see a parity bit inserted. Challenges ask you to land on start, D0, stop, and to read eight-N-one length.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A, sketch the same frame on paper: label idle, start, eight data bits LSB first, stop. Write what eight-N-one means in words. Optional: peek at UART examples in the legacy combined materials and name one signal you would drive in a TX state machine. This lab is frame literacy—not a full synthesizable UART yet.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send MSB first on the wire—UART data is LSB first unless a non-standard profile says otherwise. Do not confuse baud with the system clock—they relate through a divider you will see next module. Parity changes the slot count; eight-E-one is not eight-N-one. And remember: this animator is conceptual timing; real RTL still needs sampling, metastability, and error handling in later modules.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step through starter A5 eight-N-one and land on start, D0, and stop. On paper, draw one complete frame with bit values labeled. When you are ready, take the short quiz, then continue to spec-to-RTL checklist.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UART frame</a:t>
            </a:r>
          </a:p>
          <a:p>
            <a:pPr algn="ctr">
              <a:lnSpc>
                <a:spcPts val="2200"/>
              </a:lnSpc>
              <a:spcBef>
                <a:spcPts val="1400"/>
              </a:spcBef>
            </a:pPr>
            <a:r>
              <a:rPr sz="2600" b="0">
                <a:solidFill>
                  <a:srgbClr val="333333"/>
                </a:solidFill>
                <a:latin typeface="Calibri"/>
              </a:rPr>
              <a:t>Asynchronous serial UART sends one byte as a timed bit sequence, no shared clock wire on the link</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uart frame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Starter 0xA5 as 8N1</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byte hex A5 as eight-N-one, eight data bits, no parity, one stop bit</a:t>
            </a:r>
          </a:p>
          <a:p>
            <a:pPr lvl="0" marL="457200" indent="-228600">
              <a:buFont typeface="Calibri"/>
              <a:spcAft>
                <a:spcPts val="1000"/>
              </a:spcAft>
              <a:buSzPct val="100000"/>
              <a:buChar char="•"/>
              <a:lnSpc>
                <a:spcPts val="2200"/>
              </a:lnSpc>
            </a:pPr>
            <a:r>
              <a:rPr sz="2000" b="0">
                <a:solidFill>
                  <a:srgbClr val="333333"/>
                </a:solidFill>
                <a:latin typeface="Calibri"/>
              </a:rPr>
              <a:t>Idle high, start zero, then D0 through D7 LSB first, then stop one, then idle again</a:t>
            </a:r>
          </a:p>
          <a:p>
            <a:pPr lvl="0" marL="457200" indent="-228600">
              <a:buFont typeface="Calibri"/>
              <a:spcAft>
                <a:spcPts val="1000"/>
              </a:spcAft>
              <a:buSzPct val="100000"/>
              <a:buChar char="•"/>
              <a:lnSpc>
                <a:spcPts val="2200"/>
              </a:lnSpc>
            </a:pPr>
            <a:r>
              <a:rPr sz="2000" b="0">
                <a:solidFill>
                  <a:srgbClr val="333333"/>
                </a:solidFill>
                <a:latin typeface="Calibri"/>
              </a:rPr>
              <a:t>For A5 the LSB is one</a:t>
            </a:r>
          </a:p>
          <a:p>
            <a:pPr lvl="0" marL="457200" indent="-228600">
              <a:buFont typeface="Calibri"/>
              <a:spcAft>
                <a:spcPts val="1000"/>
              </a:spcAft>
              <a:buSzPct val="100000"/>
              <a:buChar char="•"/>
              <a:lnSpc>
                <a:spcPts val="2200"/>
              </a:lnSpc>
            </a:pPr>
            <a:r>
              <a:rPr sz="2000" b="0">
                <a:solidFill>
                  <a:srgbClr val="333333"/>
                </a:solidFill>
                <a:latin typeface="Calibri"/>
              </a:rPr>
              <a:t>Step bit by bit or play to end to watch the cursor move through twelve slots</a:t>
            </a:r>
          </a:p>
          <a:p>
            <a:pPr lvl="0" marL="457200" indent="-228600">
              <a:buFont typeface="Calibri"/>
              <a:spcAft>
                <a:spcPts val="1000"/>
              </a:spcAft>
              <a:buSzPct val="100000"/>
              <a:buChar char="•"/>
              <a:lnSpc>
                <a:spcPts val="2200"/>
              </a:lnSpc>
            </a:pPr>
            <a:r>
              <a:rPr sz="2000" b="0">
                <a:solidFill>
                  <a:srgbClr val="333333"/>
                </a:solidFill>
                <a:latin typeface="Calibri"/>
              </a:rPr>
              <a:t>Rebuild after changing width, parity, or stop count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uart frame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UART frame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uart frame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RTL/TB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Track A, sketch the same frame on paper</a:t>
            </a:r>
          </a:p>
          <a:p>
            <a:pPr lvl="0" marL="457200" indent="-228600">
              <a:buFont typeface="Calibri"/>
              <a:spcAft>
                <a:spcPts val="1000"/>
              </a:spcAft>
              <a:buSzPct val="100000"/>
              <a:buChar char="•"/>
              <a:lnSpc>
                <a:spcPts val="2200"/>
              </a:lnSpc>
            </a:pPr>
            <a:r>
              <a:rPr sz="2000" b="0">
                <a:solidFill>
                  <a:srgbClr val="333333"/>
                </a:solidFill>
                <a:latin typeface="Calibri"/>
              </a:rPr>
              <a:t>Write what eight-N-one means in words</a:t>
            </a:r>
          </a:p>
          <a:p>
            <a:pPr lvl="0" marL="457200" indent="-228600">
              <a:buFont typeface="Calibri"/>
              <a:spcAft>
                <a:spcPts val="1000"/>
              </a:spcAft>
              <a:buSzPct val="100000"/>
              <a:buChar char="•"/>
              <a:lnSpc>
                <a:spcPts val="2200"/>
              </a:lnSpc>
            </a:pPr>
            <a:r>
              <a:rPr sz="2000" b="0">
                <a:solidFill>
                  <a:srgbClr val="333333"/>
                </a:solidFill>
                <a:latin typeface="Calibri"/>
              </a:rPr>
              <a:t>Optional: peek at UART examples in the legacy combined materials and name one signal you</a:t>
            </a:r>
          </a:p>
          <a:p>
            <a:pPr lvl="0" marL="457200" indent="-228600">
              <a:buFont typeface="Calibri"/>
              <a:spcAft>
                <a:spcPts val="1000"/>
              </a:spcAft>
              <a:buSzPct val="100000"/>
              <a:buChar char="•"/>
              <a:lnSpc>
                <a:spcPts val="2200"/>
              </a:lnSpc>
            </a:pPr>
            <a:r>
              <a:rPr sz="2000" b="0">
                <a:solidFill>
                  <a:srgbClr val="333333"/>
                </a:solidFill>
                <a:latin typeface="Calibri"/>
              </a:rPr>
              <a:t>This lab is frame literacy, not a full synthesizable UART yet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uart frame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send MSB first on the wire</a:t>
            </a:r>
          </a:p>
          <a:p>
            <a:pPr lvl="0" marL="457200" indent="-228600">
              <a:buFont typeface="Calibri"/>
              <a:spcAft>
                <a:spcPts val="1000"/>
              </a:spcAft>
              <a:buSzPct val="100000"/>
              <a:buChar char="•"/>
              <a:lnSpc>
                <a:spcPts val="2200"/>
              </a:lnSpc>
            </a:pPr>
            <a:r>
              <a:rPr sz="2000" b="0">
                <a:solidFill>
                  <a:srgbClr val="333333"/>
                </a:solidFill>
                <a:latin typeface="Calibri"/>
              </a:rPr>
              <a:t>Do not confuse baud with the system clock</a:t>
            </a:r>
          </a:p>
          <a:p>
            <a:pPr lvl="0" marL="457200" indent="-228600">
              <a:buFont typeface="Calibri"/>
              <a:spcAft>
                <a:spcPts val="1000"/>
              </a:spcAft>
              <a:buSzPct val="100000"/>
              <a:buChar char="•"/>
              <a:lnSpc>
                <a:spcPts val="2200"/>
              </a:lnSpc>
            </a:pPr>
            <a:r>
              <a:rPr sz="2000" b="0">
                <a:solidFill>
                  <a:srgbClr val="333333"/>
                </a:solidFill>
                <a:latin typeface="Calibri"/>
              </a:rPr>
              <a:t>Parity changes the slot count; eight-E-one is not eight-N-one</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uart frame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step through starter A5 eight-N-one and land on start, D0, and stop</a:t>
            </a:r>
          </a:p>
          <a:p>
            <a:pPr lvl="0" marL="457200" indent="-228600">
              <a:buFont typeface="Calibri"/>
              <a:spcAft>
                <a:spcPts val="1000"/>
              </a:spcAft>
              <a:buSzPct val="100000"/>
              <a:buChar char="•"/>
              <a:lnSpc>
                <a:spcPts val="2200"/>
              </a:lnSpc>
            </a:pPr>
            <a:r>
              <a:rPr sz="2000" b="0">
                <a:solidFill>
                  <a:srgbClr val="333333"/>
                </a:solidFill>
                <a:latin typeface="Calibri"/>
              </a:rPr>
              <a:t>On paper, draw one complete frame with bit values labeled</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spec-to-RTL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uart frame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